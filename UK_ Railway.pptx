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Cy Grotesk Key Bold" charset="1" panose="00000800000000000000"/>
      <p:regular r:id="rId44"/>
    </p:embeddedFont>
    <p:embeddedFont>
      <p:font typeface="Open Sans" charset="1" panose="020B0606030504020204"/>
      <p:regular r:id="rId45"/>
    </p:embeddedFont>
    <p:embeddedFont>
      <p:font typeface="Cy Grotesk Key" charset="1" panose="00000500000000000000"/>
      <p:regular r:id="rId46"/>
    </p:embeddedFont>
    <p:embeddedFont>
      <p:font typeface="Open Sans Bold" charset="1" panose="020B0806030504020204"/>
      <p:regular r:id="rId47"/>
    </p:embeddedFont>
    <p:embeddedFont>
      <p:font typeface="Cy Grotesk Key Light" charset="1" panose="00000400000000000000"/>
      <p:regular r:id="rId48"/>
    </p:embeddedFont>
    <p:embeddedFont>
      <p:font typeface="HK Grotesk" charset="1" panose="00000500000000000000"/>
      <p:regular r:id="rId49"/>
    </p:embeddedFont>
    <p:embeddedFont>
      <p:font typeface="HK Grotesk Bold" charset="1" panose="00000800000000000000"/>
      <p:regular r:id="rId50"/>
    </p:embeddedFont>
    <p:embeddedFont>
      <p:font typeface="HK Grotesk Light" charset="1" panose="00000400000000000000"/>
      <p:regular r:id="rId51"/>
    </p:embeddedFont>
    <p:embeddedFont>
      <p:font typeface="Gulfs Display" charset="1" panose="00000500000000000000"/>
      <p:regular r:id="rId52"/>
    </p:embeddedFont>
    <p:embeddedFont>
      <p:font typeface="League Spartan" charset="1" panose="0000080000000000000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21047570" cy="10287000"/>
          </a:xfrm>
          <a:custGeom>
            <a:avLst/>
            <a:gdLst/>
            <a:ahLst/>
            <a:cxnLst/>
            <a:rect r="r" b="b" t="t" l="l"/>
            <a:pathLst>
              <a:path h="10287000" w="21047570">
                <a:moveTo>
                  <a:pt x="0" y="0"/>
                </a:moveTo>
                <a:lnTo>
                  <a:pt x="21047570" y="0"/>
                </a:lnTo>
                <a:lnTo>
                  <a:pt x="210475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511788" y="5010150"/>
          <a:ext cx="11264425" cy="4838700"/>
        </p:xfrm>
        <a:graphic>
          <a:graphicData uri="http://schemas.openxmlformats.org/drawingml/2006/table">
            <a:tbl>
              <a:tblPr/>
              <a:tblGrid>
                <a:gridCol w="4012968"/>
                <a:gridCol w="7251456"/>
              </a:tblGrid>
              <a:tr h="10272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DDD8D9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DDD8D9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Evidence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10272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Operational disruption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7.24% delay rate + 5.94% cancellation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2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Revenue volatility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Revenue dropped 20% from Jan (£199,618) to Feb (£159,374)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2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Revenue volatility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£38,702 in refunds out of £741,921 gross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978370" y="2834640"/>
            <a:ext cx="13609569" cy="230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UK</a:t>
            </a: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train operators are losing revenue and customer trust  and the data tells us exactly why.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62215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Business</a:t>
            </a: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Problem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708781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1239" y="2834640"/>
            <a:ext cx="14917945" cy="230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 dataset includes 31,653 railway journeys from January to April 2024, covering operational, financial, and customer-related data to support performance analysis and forecasting.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634480" y="5181320"/>
            <a:ext cx="8974595" cy="4494180"/>
          </a:xfrm>
          <a:custGeom>
            <a:avLst/>
            <a:gdLst/>
            <a:ahLst/>
            <a:cxnLst/>
            <a:rect r="r" b="b" t="t" l="l"/>
            <a:pathLst>
              <a:path h="4494180" w="8974595">
                <a:moveTo>
                  <a:pt x="0" y="0"/>
                </a:moveTo>
                <a:lnTo>
                  <a:pt x="8974595" y="0"/>
                </a:lnTo>
                <a:lnTo>
                  <a:pt x="8974595" y="4494180"/>
                </a:lnTo>
                <a:lnTo>
                  <a:pt x="0" y="4494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541121" y="5143500"/>
            <a:ext cx="2188096" cy="4532000"/>
          </a:xfrm>
          <a:custGeom>
            <a:avLst/>
            <a:gdLst/>
            <a:ahLst/>
            <a:cxnLst/>
            <a:rect r="r" b="b" t="t" l="l"/>
            <a:pathLst>
              <a:path h="4532000" w="2188096">
                <a:moveTo>
                  <a:pt x="0" y="0"/>
                </a:moveTo>
                <a:lnTo>
                  <a:pt x="2188096" y="0"/>
                </a:lnTo>
                <a:lnTo>
                  <a:pt x="2188096" y="4532000"/>
                </a:lnTo>
                <a:lnTo>
                  <a:pt x="0" y="453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23839" y="-1692820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87771" y="4798864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92123" y="2681761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335896" y="1417591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3393" y="3638571"/>
            <a:ext cx="16109330" cy="463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Analyze monthly revenue trends and identify peak and low-performing periods.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Evaluate operational performance by analyzing delays and cancellations.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Identify the key drivers of revenue and refund requests.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Understand customer behavior across ticket types and Railcards.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Analyze customer booking behavior to identify peak ticket purchasing times. 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Forecast future railway demand to support data-driven planning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426841" y="1764702"/>
            <a:ext cx="1028718" cy="8170963"/>
          </a:xfrm>
          <a:custGeom>
            <a:avLst/>
            <a:gdLst/>
            <a:ahLst/>
            <a:cxnLst/>
            <a:rect r="r" b="b" t="t" l="l"/>
            <a:pathLst>
              <a:path h="8170963" w="1028718">
                <a:moveTo>
                  <a:pt x="0" y="0"/>
                </a:moveTo>
                <a:lnTo>
                  <a:pt x="1028719" y="0"/>
                </a:lnTo>
                <a:lnTo>
                  <a:pt x="1028719" y="8170963"/>
                </a:lnTo>
                <a:lnTo>
                  <a:pt x="0" y="8170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91702" y="5771704"/>
            <a:ext cx="5649092" cy="3033771"/>
          </a:xfrm>
          <a:custGeom>
            <a:avLst/>
            <a:gdLst/>
            <a:ahLst/>
            <a:cxnLst/>
            <a:rect r="r" b="b" t="t" l="l"/>
            <a:pathLst>
              <a:path h="3033771" w="5649092">
                <a:moveTo>
                  <a:pt x="0" y="0"/>
                </a:moveTo>
                <a:lnTo>
                  <a:pt x="5649092" y="0"/>
                </a:lnTo>
                <a:lnTo>
                  <a:pt x="5649092" y="3033771"/>
                </a:lnTo>
                <a:lnTo>
                  <a:pt x="0" y="303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333696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Cleaning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2298" y="2775774"/>
            <a:ext cx="14229699" cy="26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Validate Railcard Values</a:t>
            </a:r>
          </a:p>
          <a:p>
            <a:pPr algn="l" marL="755651" indent="-377825" lvl="1">
              <a:lnSpc>
                <a:spcPts val="528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Ver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ifie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 that "None" represents passengers without a Railcard, so it was kept as a valid category during data preparation.</a:t>
            </a:r>
          </a:p>
          <a:p>
            <a:pPr algn="l">
              <a:lnSpc>
                <a:spcPts val="528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268698" y="5753855"/>
            <a:ext cx="9052781" cy="4319075"/>
          </a:xfrm>
          <a:custGeom>
            <a:avLst/>
            <a:gdLst/>
            <a:ahLst/>
            <a:cxnLst/>
            <a:rect r="r" b="b" t="t" l="l"/>
            <a:pathLst>
              <a:path h="4319075" w="9052781">
                <a:moveTo>
                  <a:pt x="0" y="0"/>
                </a:moveTo>
                <a:lnTo>
                  <a:pt x="9052781" y="0"/>
                </a:lnTo>
                <a:lnTo>
                  <a:pt x="9052781" y="4319075"/>
                </a:lnTo>
                <a:lnTo>
                  <a:pt x="0" y="43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333696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Cleaning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2298" y="2775774"/>
            <a:ext cx="17155702" cy="32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Fill Missing Delay Reasons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27,481 missing values (86.82%) were f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ound in Reason for Delay.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These records correspond to On Time journeys, so replacing them with "No Delay" preserved meaningful information.</a:t>
            </a:r>
          </a:p>
          <a:p>
            <a:pPr algn="l">
              <a:lnSpc>
                <a:spcPts val="5285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32298" y="2775774"/>
            <a:ext cx="17155702" cy="32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3) Validate Actual Arrival Time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,880 missing values (5.94%) were f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ound in Actual Arrival Time.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Validation confirmed they all belonged to Cancelled journeys, so the missing values were kept as NaN because no arrival actually occurred.</a:t>
            </a: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32298" y="6438454"/>
            <a:ext cx="16440493" cy="2202663"/>
          </a:xfrm>
          <a:custGeom>
            <a:avLst/>
            <a:gdLst/>
            <a:ahLst/>
            <a:cxnLst/>
            <a:rect r="r" b="b" t="t" l="l"/>
            <a:pathLst>
              <a:path h="2202663" w="16440493">
                <a:moveTo>
                  <a:pt x="0" y="0"/>
                </a:moveTo>
                <a:lnTo>
                  <a:pt x="16440493" y="0"/>
                </a:lnTo>
                <a:lnTo>
                  <a:pt x="16440493" y="2202662"/>
                </a:lnTo>
                <a:lnTo>
                  <a:pt x="0" y="2202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333696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Cleaning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030347" y="5324798"/>
            <a:ext cx="7359603" cy="4394116"/>
          </a:xfrm>
          <a:custGeom>
            <a:avLst/>
            <a:gdLst/>
            <a:ahLst/>
            <a:cxnLst/>
            <a:rect r="r" b="b" t="t" l="l"/>
            <a:pathLst>
              <a:path h="4394116" w="7359603">
                <a:moveTo>
                  <a:pt x="0" y="0"/>
                </a:moveTo>
                <a:lnTo>
                  <a:pt x="7359603" y="0"/>
                </a:lnTo>
                <a:lnTo>
                  <a:pt x="7359603" y="4394116"/>
                </a:lnTo>
                <a:lnTo>
                  <a:pt x="0" y="4394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2298" y="2775774"/>
            <a:ext cx="17155702" cy="32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4) Standardize Delay Reasons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Delay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reason names were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inconsistent.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Categories were standardized to improve grouping accuracy and ensure reliable analysis</a:t>
            </a: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333696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Cleaning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914303" y="5771704"/>
            <a:ext cx="10666589" cy="3265991"/>
          </a:xfrm>
          <a:custGeom>
            <a:avLst/>
            <a:gdLst/>
            <a:ahLst/>
            <a:cxnLst/>
            <a:rect r="r" b="b" t="t" l="l"/>
            <a:pathLst>
              <a:path h="3265991" w="10666589">
                <a:moveTo>
                  <a:pt x="0" y="0"/>
                </a:moveTo>
                <a:lnTo>
                  <a:pt x="10666589" y="0"/>
                </a:lnTo>
                <a:lnTo>
                  <a:pt x="10666589" y="3265991"/>
                </a:lnTo>
                <a:lnTo>
                  <a:pt x="0" y="3265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2298" y="2775774"/>
            <a:ext cx="14250442" cy="26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5) Convert Data Types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 columns were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converted to datetime and Price to integer.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This enabled accurate time-based analysis and calculations.</a:t>
            </a: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333696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Cleaning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17514" y="5881679"/>
            <a:ext cx="6383957" cy="4035608"/>
          </a:xfrm>
          <a:custGeom>
            <a:avLst/>
            <a:gdLst/>
            <a:ahLst/>
            <a:cxnLst/>
            <a:rect r="r" b="b" t="t" l="l"/>
            <a:pathLst>
              <a:path h="4035608" w="6383957">
                <a:moveTo>
                  <a:pt x="0" y="0"/>
                </a:moveTo>
                <a:lnTo>
                  <a:pt x="6383957" y="0"/>
                </a:lnTo>
                <a:lnTo>
                  <a:pt x="6383957" y="4035608"/>
                </a:lnTo>
                <a:lnTo>
                  <a:pt x="0" y="403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2298" y="2775774"/>
            <a:ext cx="17155702" cy="32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Delay Minutes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Creat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ed a new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feature to calculate the delay duration in minutes.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Avg delay: 42.2 min — worst route: Manchester Piccadilly → Leeds at 143.7 min avg.</a:t>
            </a: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120571" y="5146843"/>
            <a:ext cx="9661427" cy="920136"/>
          </a:xfrm>
          <a:custGeom>
            <a:avLst/>
            <a:gdLst/>
            <a:ahLst/>
            <a:cxnLst/>
            <a:rect r="r" b="b" t="t" l="l"/>
            <a:pathLst>
              <a:path h="920136" w="9661427">
                <a:moveTo>
                  <a:pt x="0" y="0"/>
                </a:moveTo>
                <a:lnTo>
                  <a:pt x="9661427" y="0"/>
                </a:lnTo>
                <a:lnTo>
                  <a:pt x="9661427" y="920136"/>
                </a:lnTo>
                <a:lnTo>
                  <a:pt x="0" y="920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4917" y="1390650"/>
            <a:ext cx="10956379" cy="208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Feature Engineering</a:t>
            </a:r>
          </a:p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4917" y="5700624"/>
            <a:ext cx="9542931" cy="4153800"/>
          </a:xfrm>
          <a:custGeom>
            <a:avLst/>
            <a:gdLst/>
            <a:ahLst/>
            <a:cxnLst/>
            <a:rect r="r" b="b" t="t" l="l"/>
            <a:pathLst>
              <a:path h="4153800" w="9542931">
                <a:moveTo>
                  <a:pt x="0" y="0"/>
                </a:moveTo>
                <a:lnTo>
                  <a:pt x="9542931" y="0"/>
                </a:lnTo>
                <a:lnTo>
                  <a:pt x="9542931" y="4153800"/>
                </a:lnTo>
                <a:lnTo>
                  <a:pt x="0" y="4153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2298" y="2775774"/>
            <a:ext cx="17155702" cy="395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Days to Journey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alculated the number of days between booking and travel.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Overall avg: 1.65 days — Advance tickets booked 2.98 days ahead vs. 0 days for Anytime/Off-Peak, explaining the price gap.</a:t>
            </a:r>
          </a:p>
          <a:p>
            <a:pPr algn="l">
              <a:lnSpc>
                <a:spcPts val="5285"/>
              </a:lnSpc>
            </a:pP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106140" y="6214472"/>
            <a:ext cx="6256758" cy="3043828"/>
          </a:xfrm>
          <a:custGeom>
            <a:avLst/>
            <a:gdLst/>
            <a:ahLst/>
            <a:cxnLst/>
            <a:rect r="r" b="b" t="t" l="l"/>
            <a:pathLst>
              <a:path h="3043828" w="6256758">
                <a:moveTo>
                  <a:pt x="0" y="0"/>
                </a:moveTo>
                <a:lnTo>
                  <a:pt x="6256758" y="0"/>
                </a:lnTo>
                <a:lnTo>
                  <a:pt x="6256758" y="3043828"/>
                </a:lnTo>
                <a:lnTo>
                  <a:pt x="0" y="3043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4917" y="1390650"/>
            <a:ext cx="10956379" cy="208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Feature Engineering</a:t>
            </a:r>
          </a:p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834755" y="6509839"/>
            <a:ext cx="2621696" cy="3268609"/>
          </a:xfrm>
          <a:custGeom>
            <a:avLst/>
            <a:gdLst/>
            <a:ahLst/>
            <a:cxnLst/>
            <a:rect r="r" b="b" t="t" l="l"/>
            <a:pathLst>
              <a:path h="3268609" w="2621696">
                <a:moveTo>
                  <a:pt x="0" y="0"/>
                </a:moveTo>
                <a:lnTo>
                  <a:pt x="2621696" y="0"/>
                </a:lnTo>
                <a:lnTo>
                  <a:pt x="2621696" y="3268609"/>
                </a:lnTo>
                <a:lnTo>
                  <a:pt x="0" y="3268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34755" y="2902391"/>
            <a:ext cx="2621696" cy="3423680"/>
          </a:xfrm>
          <a:custGeom>
            <a:avLst/>
            <a:gdLst/>
            <a:ahLst/>
            <a:cxnLst/>
            <a:rect r="r" b="b" t="t" l="l"/>
            <a:pathLst>
              <a:path h="3423680" w="2621696">
                <a:moveTo>
                  <a:pt x="0" y="0"/>
                </a:moveTo>
                <a:lnTo>
                  <a:pt x="2621696" y="0"/>
                </a:lnTo>
                <a:lnTo>
                  <a:pt x="2621696" y="3423681"/>
                </a:lnTo>
                <a:lnTo>
                  <a:pt x="0" y="3423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36" r="0" b="-213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32298" y="2775774"/>
            <a:ext cx="12418613" cy="26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3) Journey Day Name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Extr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acted the day of the week for each journey.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Used to compare operational performance across weekdays.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4917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Feature Engineering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2298" y="5855247"/>
            <a:ext cx="12590365" cy="26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4) Journey Day Name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reated a month name feature from the journey date.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Used to analyze monthly trends in revenue and journey volume.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384330" y="3263982"/>
            <a:ext cx="4544172" cy="6672455"/>
          </a:xfrm>
          <a:custGeom>
            <a:avLst/>
            <a:gdLst/>
            <a:ahLst/>
            <a:cxnLst/>
            <a:rect r="r" b="b" t="t" l="l"/>
            <a:pathLst>
              <a:path h="6672455" w="4544172">
                <a:moveTo>
                  <a:pt x="0" y="0"/>
                </a:moveTo>
                <a:lnTo>
                  <a:pt x="4544171" y="0"/>
                </a:lnTo>
                <a:lnTo>
                  <a:pt x="4544171" y="6672454"/>
                </a:lnTo>
                <a:lnTo>
                  <a:pt x="0" y="6672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2298" y="2775774"/>
            <a:ext cx="11128998" cy="32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5) Is Weekend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Cre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ated a Boolean feature to identify weekend journeys.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Used to compare weekday and weekend travel patterns..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917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Feature Engineering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978370" y="5505354"/>
          <a:ext cx="14245207" cy="4114800"/>
        </p:xfrm>
        <a:graphic>
          <a:graphicData uri="http://schemas.openxmlformats.org/drawingml/2006/table">
            <a:tbl>
              <a:tblPr/>
              <a:tblGrid>
                <a:gridCol w="2849041"/>
                <a:gridCol w="2849041"/>
                <a:gridCol w="2849041"/>
                <a:gridCol w="2849041"/>
                <a:gridCol w="2849041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KPI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Gross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Total Passengers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Avg Ticket 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Net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£741,921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31,653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£23.44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£703,219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KPI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On-Time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Cancellation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Total Refunded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Delay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86.82%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5.94%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£38,702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7.24%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132298" y="2775774"/>
            <a:ext cx="11128998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Befo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 w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 dive into the analysis, here are the 8 KPIs that define the health of the railway network across January to April 2024.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917" y="1390650"/>
            <a:ext cx="3964772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KPIs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880056" y="5336901"/>
          <a:ext cx="7315200" cy="446722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1624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Month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Change vs Previous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826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January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£199,502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rtl="true">
                        <a:lnSpc>
                          <a:spcPts val="2659"/>
                        </a:lnSpc>
                        <a:defRPr/>
                      </a:pPr>
                      <a:r>
                        <a:rPr lang="ar-EG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rtl val="true"/>
                        </a:rPr>
                        <a:t>ـــــــــــ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February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£159,334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▼ −20.1%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£195,147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▲ +22.4%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April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£187,782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▼ −3.8%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978370" y="2810871"/>
            <a:ext cx="8398063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Revenu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Volatility — Monthly Trend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5306926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590168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Reven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ue Performance &amp; Customer Segments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01751"/>
            <a:ext cx="15384527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Revenue had n</a:t>
            </a: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clear growth trend. January was the best month at £199,502, February dropped 20% to £159,334, March recovered, then April dipped again.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470346" y="5336901"/>
          <a:ext cx="7315200" cy="4458919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154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Railcard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Share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826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£573,697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77.3%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Adult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£86,118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Disabled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£52,278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Senior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£29,616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978370" y="2810871"/>
            <a:ext cx="8398063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Who Re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ally Drives Revenue?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5306926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590168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Reven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ue Performance &amp; Customer Segments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01751"/>
            <a:ext cx="15384527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Despite discount programs existing, 77.3% of revenue comes from full-fare passengers. Their avg ticket (£27.43) is 75% higher than Railcard holders (£15.67).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194230" y="6013176"/>
          <a:ext cx="11168667" cy="3314700"/>
        </p:xfrm>
        <a:graphic>
          <a:graphicData uri="http://schemas.openxmlformats.org/drawingml/2006/table">
            <a:tbl>
              <a:tblPr/>
              <a:tblGrid>
                <a:gridCol w="5422692"/>
                <a:gridCol w="2881749"/>
                <a:gridCol w="2864225"/>
              </a:tblGrid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Route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Share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London Kings Cross → York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£183,193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24.7%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Liverpool Lime Street → London Euston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£113,299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London Paddington → Reading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£65,368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978370" y="2810871"/>
            <a:ext cx="6203262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3) Route Concent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ration 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5306926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590168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Reven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ue Performance &amp; Customer Segments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58901"/>
            <a:ext cx="15384527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London Kings Cross to York alone generates £183,193 — 24.7% of total revenue. The top 5 routes combined account for 64.1% of all revenue, meaning the business is heavily concentrated in a handful of routes.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194230" y="6013176"/>
          <a:ext cx="9062618" cy="3314700"/>
        </p:xfrm>
        <a:graphic>
          <a:graphicData uri="http://schemas.openxmlformats.org/drawingml/2006/table">
            <a:tbl>
              <a:tblPr/>
              <a:tblGrid>
                <a:gridCol w="1910121"/>
                <a:gridCol w="2185042"/>
                <a:gridCol w="1564188"/>
                <a:gridCol w="3403267"/>
              </a:tblGrid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Ticket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Days Booked Ahead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Advance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£309,200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2.98 days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£17.61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Off-Peak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£223,200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days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£25.52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Anytime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£209,309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days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£39.20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978370" y="2810871"/>
            <a:ext cx="6203262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4) Ticket Type Perfo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5306926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590168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Reven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ue Performance &amp; Customer Segments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58901"/>
            <a:ext cx="15384527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Advance tickets generate the highest revenue (£309,200 = 41.7%) despite having the lowest average price (£17.61). Passengers book 2.98 days ahead on average — volume compensates for the lower price.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247598" y="6189301"/>
            <a:ext cx="5077284" cy="4097699"/>
          </a:xfrm>
          <a:custGeom>
            <a:avLst/>
            <a:gdLst/>
            <a:ahLst/>
            <a:cxnLst/>
            <a:rect r="r" b="b" t="t" l="l"/>
            <a:pathLst>
              <a:path h="4097699" w="5077284">
                <a:moveTo>
                  <a:pt x="0" y="0"/>
                </a:moveTo>
                <a:lnTo>
                  <a:pt x="5077284" y="0"/>
                </a:lnTo>
                <a:lnTo>
                  <a:pt x="5077284" y="4097699"/>
                </a:lnTo>
                <a:lnTo>
                  <a:pt x="0" y="4097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70240" y="5821585"/>
            <a:ext cx="3817760" cy="4465415"/>
          </a:xfrm>
          <a:custGeom>
            <a:avLst/>
            <a:gdLst/>
            <a:ahLst/>
            <a:cxnLst/>
            <a:rect r="r" b="b" t="t" l="l"/>
            <a:pathLst>
              <a:path h="4465415" w="3817760">
                <a:moveTo>
                  <a:pt x="0" y="0"/>
                </a:moveTo>
                <a:lnTo>
                  <a:pt x="3817760" y="0"/>
                </a:lnTo>
                <a:lnTo>
                  <a:pt x="3817760" y="4465415"/>
                </a:lnTo>
                <a:lnTo>
                  <a:pt x="0" y="4465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40404" y="6146526"/>
            <a:ext cx="2444271" cy="4140474"/>
          </a:xfrm>
          <a:custGeom>
            <a:avLst/>
            <a:gdLst/>
            <a:ahLst/>
            <a:cxnLst/>
            <a:rect r="r" b="b" t="t" l="l"/>
            <a:pathLst>
              <a:path h="4140474" w="2444271">
                <a:moveTo>
                  <a:pt x="0" y="0"/>
                </a:moveTo>
                <a:lnTo>
                  <a:pt x="2444272" y="0"/>
                </a:lnTo>
                <a:lnTo>
                  <a:pt x="2444272" y="4140474"/>
                </a:lnTo>
                <a:lnTo>
                  <a:pt x="0" y="4140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78370" y="2810871"/>
            <a:ext cx="13613574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5) When Do Custom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ers Buy Tickets &amp; Operational Issues?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811" y="1124681"/>
            <a:ext cx="5306926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8370" y="2187110"/>
            <a:ext cx="590168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Reven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ue Performance &amp; Customer Segments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8370" y="3558901"/>
            <a:ext cx="14400750" cy="288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330" indent="-353665" lvl="1">
              <a:lnSpc>
                <a:spcPts val="4586"/>
              </a:lnSpc>
              <a:buFont typeface="Arial"/>
              <a:buChar char="•"/>
            </a:pPr>
            <a:r>
              <a:rPr lang="en-US" sz="327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 highest ticket booking activity occurs at 5:00 PM (17:00), with approximately 2,740 tickets purchased.</a:t>
            </a:r>
          </a:p>
          <a:p>
            <a:pPr algn="l" marL="707330" indent="-353665" lvl="1">
              <a:lnSpc>
                <a:spcPts val="4586"/>
              </a:lnSpc>
              <a:buFont typeface="Arial"/>
              <a:buChar char="•"/>
            </a:pPr>
            <a:r>
              <a:rPr lang="en-US" sz="327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</a:t>
            </a:r>
            <a:r>
              <a:rPr lang="en-US" sz="327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he highest number of operational issues occurs during the 8:00 AM departure hour, with 876 delayed or cancelled journeys.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1977219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78370" y="2174373"/>
            <a:ext cx="891366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Revenue is Volatile — No Clear Growth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39891"/>
            <a:ext cx="18341945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Insights &amp;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8370" y="2931928"/>
            <a:ext cx="15384527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Revenue dropped 20% in February with no clear growth trend across 4 months.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Investigate February demand drivers — consider promotional pricing or marketing campaigns in low-demand months.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5885634"/>
            <a:ext cx="1014957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Full-Fare Passengers Drive 77.3% of Revenue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6707086"/>
            <a:ext cx="15384527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espite Railcard discount programs, full-fare passengers generate £573,697 — paying 75% more per ticket than discount holders.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IPrioritize full-fare passenger experience — on-time performance, comfort, and service quality directly impact the company's primary revenue source.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1977219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78370" y="2174373"/>
            <a:ext cx="15658871" cy="129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3) Customer Demand and Operational Pressure Peak at Different Times</a:t>
            </a: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39891"/>
            <a:ext cx="18341945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Insights &amp;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8370" y="2912878"/>
            <a:ext cx="15384527" cy="48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82B2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Insight: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Customer demand peaks in the evening (5:00 PM), while operational issues peak during the morning (8:00 AM). This indicates that customer booking demand and railway operational pressure occur at different times of the day.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82B2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Recommendation: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</a:t>
            </a:r>
            <a:r>
              <a:rPr lang="en-US" sz="30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nsure the booking platform can handle high evening traffic, while allocating additional operational resources during the morning peak to reduce delays and cancellations.</a:t>
            </a: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32298" y="6700339"/>
            <a:ext cx="7831946" cy="2507110"/>
          </a:xfrm>
          <a:custGeom>
            <a:avLst/>
            <a:gdLst/>
            <a:ahLst/>
            <a:cxnLst/>
            <a:rect r="r" b="b" t="t" l="l"/>
            <a:pathLst>
              <a:path h="2507110" w="7831946">
                <a:moveTo>
                  <a:pt x="0" y="0"/>
                </a:moveTo>
                <a:lnTo>
                  <a:pt x="7831946" y="0"/>
                </a:lnTo>
                <a:lnTo>
                  <a:pt x="7831946" y="2507111"/>
                </a:lnTo>
                <a:lnTo>
                  <a:pt x="0" y="2507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70634" y="6509839"/>
            <a:ext cx="7133886" cy="3229847"/>
          </a:xfrm>
          <a:custGeom>
            <a:avLst/>
            <a:gdLst/>
            <a:ahLst/>
            <a:cxnLst/>
            <a:rect r="r" b="b" t="t" l="l"/>
            <a:pathLst>
              <a:path h="3229847" w="7133886">
                <a:moveTo>
                  <a:pt x="0" y="0"/>
                </a:moveTo>
                <a:lnTo>
                  <a:pt x="7133886" y="0"/>
                </a:lnTo>
                <a:lnTo>
                  <a:pt x="7133886" y="3229847"/>
                </a:lnTo>
                <a:lnTo>
                  <a:pt x="0" y="322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112902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Operations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6756375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Disruptions, 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Refund Rates &amp; Station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Performance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2810871"/>
            <a:ext cx="910402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Disruption Frequency ≠ Disruptio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 Cost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8370" y="3558901"/>
            <a:ext cx="15384527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Weather causes the most disruptions (32.9%) but only 9.7% of affected passengers request a refund — they accept it as uncontrollable. Technical Issues rank 4th in frequency but generate a 54.9% refund rate — passengers blame the company directly.</a:t>
            </a: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55119" y="6203676"/>
            <a:ext cx="7279627" cy="3485685"/>
          </a:xfrm>
          <a:custGeom>
            <a:avLst/>
            <a:gdLst/>
            <a:ahLst/>
            <a:cxnLst/>
            <a:rect r="r" b="b" t="t" l="l"/>
            <a:pathLst>
              <a:path h="3485685" w="7279627">
                <a:moveTo>
                  <a:pt x="0" y="0"/>
                </a:moveTo>
                <a:lnTo>
                  <a:pt x="7279626" y="0"/>
                </a:lnTo>
                <a:lnTo>
                  <a:pt x="7279626" y="3485684"/>
                </a:lnTo>
                <a:lnTo>
                  <a:pt x="0" y="3485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45297" y="4953218"/>
            <a:ext cx="4315753" cy="5130212"/>
          </a:xfrm>
          <a:custGeom>
            <a:avLst/>
            <a:gdLst/>
            <a:ahLst/>
            <a:cxnLst/>
            <a:rect r="r" b="b" t="t" l="l"/>
            <a:pathLst>
              <a:path h="5130212" w="4315753">
                <a:moveTo>
                  <a:pt x="0" y="0"/>
                </a:moveTo>
                <a:lnTo>
                  <a:pt x="4315753" y="0"/>
                </a:lnTo>
                <a:lnTo>
                  <a:pt x="4315753" y="5130212"/>
                </a:lnTo>
                <a:lnTo>
                  <a:pt x="0" y="5130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09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112902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Operations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6756375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Disruptions, 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Refund Rates &amp; Station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Performance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58901"/>
            <a:ext cx="15384527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Wednesday has the highest ride volume (4,692 journeys). Thursday has the highest delay rate (8.48%). Operational pressure builds mid-week and manifests as delays the following day.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8370" y="2810871"/>
            <a:ext cx="910402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When Do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Delays Peak?</a:t>
            </a:r>
          </a:p>
        </p:txBody>
      </p: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43203" y="6231925"/>
            <a:ext cx="9619694" cy="3847878"/>
          </a:xfrm>
          <a:custGeom>
            <a:avLst/>
            <a:gdLst/>
            <a:ahLst/>
            <a:cxnLst/>
            <a:rect r="r" b="b" t="t" l="l"/>
            <a:pathLst>
              <a:path h="3847878" w="9619694">
                <a:moveTo>
                  <a:pt x="0" y="0"/>
                </a:moveTo>
                <a:lnTo>
                  <a:pt x="9619695" y="0"/>
                </a:lnTo>
                <a:lnTo>
                  <a:pt x="9619695" y="3847878"/>
                </a:lnTo>
                <a:lnTo>
                  <a:pt x="0" y="3847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78370" y="3558901"/>
            <a:ext cx="15384527" cy="30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Raw disruption counts from Python confirm Liverpool Lime Street is the true underperformer with 1,134 disruptions — higher than Manchester Piccadilly's 987. When normalized by total journeys, Liverpool's disruption rate reaches 24.9% — nearly 3x the network. average of 13.18%.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112902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Operations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6756375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Disruptions, 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Refund Rates &amp; Station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Performance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2810871"/>
            <a:ext cx="910402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3) Which Station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Is Really the Worst?</a:t>
            </a:r>
          </a:p>
        </p:txBody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1977219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78370" y="2174373"/>
            <a:ext cx="11069667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Technical Issues Are the Most Expensive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39891"/>
            <a:ext cx="18341945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Insights &amp;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8370" y="2979553"/>
            <a:ext cx="13501222" cy="51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eather causes the most disruptions (1,372 cases = 32.9%) — but passengers accept it as beyond the company's control, so only 9.7% request a refund.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Issues happen far less often (707 cases = 17%) — but because passengers see this as the company's fault, 54.9% demand a refund.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means Technical Issues — despite being 4th in frequency — are the #1 financial risk. Every Technical Issue disruption is nearly 6x more likely to cost the company money than a weather disruption.</a:t>
            </a:r>
          </a:p>
          <a:p>
            <a:pPr algn="l">
              <a:lnSpc>
                <a:spcPts val="3685"/>
              </a:lnSpc>
            </a:pPr>
            <a:r>
              <a:rPr lang="en-US" sz="2632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Recommendations: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Prioritize pre</a:t>
            </a: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ventative maintenance over addressing the effects of weather. Fixing problems that result in refunds will increase revenue.</a:t>
            </a:r>
          </a:p>
        </p:txBody>
      </p:sp>
    </p:spTree>
  </p:cSld>
  <p:clrMapOvr>
    <a:masterClrMapping/>
  </p:clrMapOvr>
  <p:transition spd="slow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1977219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78370" y="2174373"/>
            <a:ext cx="11316067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Liverpool Lime Street Is the True Underperformer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39891"/>
            <a:ext cx="18341945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Insights &amp;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8370" y="2979553"/>
            <a:ext cx="13501222" cy="3257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Liverpool Lim</a:t>
            </a: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Street has the highest disruption rate when normalized — 1,134 disruptions across 4,561 journeys, resulting in a 24.9% disruption rate, nearly 3x the network average of 13.18%.</a:t>
            </a:r>
          </a:p>
          <a:p>
            <a:pPr algn="l">
              <a:lnSpc>
                <a:spcPts val="3685"/>
              </a:lnSpc>
            </a:pPr>
            <a:r>
              <a:rPr lang="en-US" sz="2632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Recommendations: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Conduct an op</a:t>
            </a: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erational audit at Liverpool Lime Street, with a focus on Technical Issues — the leading cause of its disproportionately high 24.9% disruption rate.</a:t>
            </a:r>
          </a:p>
        </p:txBody>
      </p: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9490" y="3385735"/>
            <a:ext cx="17049020" cy="6248209"/>
            <a:chOff x="0" y="0"/>
            <a:chExt cx="4490277" cy="1645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0277" cy="1645619"/>
            </a:xfrm>
            <a:custGeom>
              <a:avLst/>
              <a:gdLst/>
              <a:ahLst/>
              <a:cxnLst/>
              <a:rect r="r" b="b" t="t" l="l"/>
              <a:pathLst>
                <a:path h="1645619" w="4490277">
                  <a:moveTo>
                    <a:pt x="23159" y="0"/>
                  </a:moveTo>
                  <a:lnTo>
                    <a:pt x="4467118" y="0"/>
                  </a:lnTo>
                  <a:cubicBezTo>
                    <a:pt x="4473260" y="0"/>
                    <a:pt x="4479151" y="2440"/>
                    <a:pt x="4483494" y="6783"/>
                  </a:cubicBezTo>
                  <a:cubicBezTo>
                    <a:pt x="4487837" y="11126"/>
                    <a:pt x="4490277" y="17017"/>
                    <a:pt x="4490277" y="23159"/>
                  </a:cubicBezTo>
                  <a:lnTo>
                    <a:pt x="4490277" y="1622460"/>
                  </a:lnTo>
                  <a:cubicBezTo>
                    <a:pt x="4490277" y="1628602"/>
                    <a:pt x="4487837" y="1634492"/>
                    <a:pt x="4483494" y="1638836"/>
                  </a:cubicBezTo>
                  <a:cubicBezTo>
                    <a:pt x="4479151" y="1643179"/>
                    <a:pt x="4473260" y="1645619"/>
                    <a:pt x="4467118" y="1645619"/>
                  </a:cubicBezTo>
                  <a:lnTo>
                    <a:pt x="23159" y="1645619"/>
                  </a:lnTo>
                  <a:cubicBezTo>
                    <a:pt x="17017" y="1645619"/>
                    <a:pt x="11126" y="1643179"/>
                    <a:pt x="6783" y="1638836"/>
                  </a:cubicBezTo>
                  <a:cubicBezTo>
                    <a:pt x="2440" y="1634492"/>
                    <a:pt x="0" y="1628602"/>
                    <a:pt x="0" y="1622460"/>
                  </a:cubicBezTo>
                  <a:lnTo>
                    <a:pt x="0" y="23159"/>
                  </a:lnTo>
                  <a:cubicBezTo>
                    <a:pt x="0" y="17017"/>
                    <a:pt x="2440" y="11126"/>
                    <a:pt x="6783" y="6783"/>
                  </a:cubicBezTo>
                  <a:cubicBezTo>
                    <a:pt x="11126" y="2440"/>
                    <a:pt x="17017" y="0"/>
                    <a:pt x="231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490277" cy="171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734178"/>
            <a:ext cx="16230600" cy="63804"/>
            <a:chOff x="0" y="0"/>
            <a:chExt cx="4052983" cy="15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32298" y="1029431"/>
            <a:ext cx="7145644" cy="111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Limitations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754970"/>
            <a:ext cx="15331197" cy="563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 — Only 4 Months of Data:</a:t>
            </a:r>
          </a:p>
          <a:p>
            <a:pPr algn="l" marL="582927" indent="-291463" lvl="1">
              <a:lnSpc>
                <a:spcPts val="4076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Dataset c</a:t>
            </a: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overs Jan–Apr 2024 only — summer and winter seasonal patterns are not captured, limiting trend analysis and forecasting reliability.</a:t>
            </a:r>
          </a:p>
          <a:p>
            <a:pPr algn="l">
              <a:lnSpc>
                <a:spcPts val="4076"/>
              </a:lnSpc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 — Refund Amount Is Unknown</a:t>
            </a:r>
          </a:p>
          <a:p>
            <a:pPr algn="l" marL="582927" indent="-291463" lvl="1">
              <a:lnSpc>
                <a:spcPts val="4076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 dataset records Refund Request as Yes/No only — no actual refund amounts are stored. The £38,702 figure assumes full ticket price was refunded in every case, which may overestimate actual losses.</a:t>
            </a:r>
          </a:p>
          <a:p>
            <a:pPr algn="l">
              <a:lnSpc>
                <a:spcPts val="4076"/>
              </a:lnSpc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3— Edinburgh Waverley Data Quality Issue</a:t>
            </a:r>
          </a:p>
          <a:p>
            <a:pPr algn="l" marL="582927" indent="-291463" lvl="1">
              <a:lnSpc>
                <a:spcPts val="4076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Edinburgh Waverley shows a 100% disruption rate (51 out of 51 journeys disrupted) — this is statistically impossible in reality and suggests a data collection issue for this station specifically.</a:t>
            </a:r>
          </a:p>
        </p:txBody>
      </p:sp>
    </p:spTree>
  </p:cSld>
  <p:clrMapOvr>
    <a:masterClrMapping/>
  </p:clrMapOvr>
  <p:transition spd="slow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9490" y="3201224"/>
            <a:ext cx="17049020" cy="6248209"/>
            <a:chOff x="0" y="0"/>
            <a:chExt cx="4490277" cy="1645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0277" cy="1645619"/>
            </a:xfrm>
            <a:custGeom>
              <a:avLst/>
              <a:gdLst/>
              <a:ahLst/>
              <a:cxnLst/>
              <a:rect r="r" b="b" t="t" l="l"/>
              <a:pathLst>
                <a:path h="1645619" w="4490277">
                  <a:moveTo>
                    <a:pt x="23159" y="0"/>
                  </a:moveTo>
                  <a:lnTo>
                    <a:pt x="4467118" y="0"/>
                  </a:lnTo>
                  <a:cubicBezTo>
                    <a:pt x="4473260" y="0"/>
                    <a:pt x="4479151" y="2440"/>
                    <a:pt x="4483494" y="6783"/>
                  </a:cubicBezTo>
                  <a:cubicBezTo>
                    <a:pt x="4487837" y="11126"/>
                    <a:pt x="4490277" y="17017"/>
                    <a:pt x="4490277" y="23159"/>
                  </a:cubicBezTo>
                  <a:lnTo>
                    <a:pt x="4490277" y="1622460"/>
                  </a:lnTo>
                  <a:cubicBezTo>
                    <a:pt x="4490277" y="1628602"/>
                    <a:pt x="4487837" y="1634492"/>
                    <a:pt x="4483494" y="1638836"/>
                  </a:cubicBezTo>
                  <a:cubicBezTo>
                    <a:pt x="4479151" y="1643179"/>
                    <a:pt x="4473260" y="1645619"/>
                    <a:pt x="4467118" y="1645619"/>
                  </a:cubicBezTo>
                  <a:lnTo>
                    <a:pt x="23159" y="1645619"/>
                  </a:lnTo>
                  <a:cubicBezTo>
                    <a:pt x="17017" y="1645619"/>
                    <a:pt x="11126" y="1643179"/>
                    <a:pt x="6783" y="1638836"/>
                  </a:cubicBezTo>
                  <a:cubicBezTo>
                    <a:pt x="2440" y="1634492"/>
                    <a:pt x="0" y="1628602"/>
                    <a:pt x="0" y="1622460"/>
                  </a:cubicBezTo>
                  <a:lnTo>
                    <a:pt x="0" y="23159"/>
                  </a:lnTo>
                  <a:cubicBezTo>
                    <a:pt x="0" y="17017"/>
                    <a:pt x="2440" y="11126"/>
                    <a:pt x="6783" y="6783"/>
                  </a:cubicBezTo>
                  <a:cubicBezTo>
                    <a:pt x="11126" y="2440"/>
                    <a:pt x="17017" y="0"/>
                    <a:pt x="231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490277" cy="171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7863" y="3500753"/>
            <a:ext cx="15752274" cy="460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7"/>
              </a:lnSpc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1 — Extend Dataset to 12+ Months</a:t>
            </a:r>
          </a:p>
          <a:p>
            <a:pPr algn="l" marL="582935" indent="-291467" lvl="1">
              <a:lnSpc>
                <a:spcPts val="4077"/>
              </a:lnSpc>
              <a:buFont typeface="Arial"/>
              <a:buChar char="•"/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More data would capture yearly seasonality and improve trend analysis accuracy across all seasons.</a:t>
            </a:r>
          </a:p>
          <a:p>
            <a:pPr algn="l">
              <a:lnSpc>
                <a:spcPts val="4077"/>
              </a:lnSpc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2 — Investigate Edinburgh Waverley</a:t>
            </a:r>
          </a:p>
          <a:p>
            <a:pPr algn="l" marL="582935" indent="-291467" lvl="1">
              <a:lnSpc>
                <a:spcPts val="4077"/>
              </a:lnSpc>
              <a:buFont typeface="Arial"/>
              <a:buChar char="•"/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A 100% disruption rate for Edinburgh Waverley needs investigation — either a data collection error or a genuine operational crisis that deserves attention.</a:t>
            </a:r>
          </a:p>
          <a:p>
            <a:pPr algn="l">
              <a:lnSpc>
                <a:spcPts val="4077"/>
              </a:lnSpc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3 — Add Actual Refund Amounts</a:t>
            </a:r>
          </a:p>
          <a:p>
            <a:pPr algn="l" marL="582935" indent="-291467" lvl="1">
              <a:lnSpc>
                <a:spcPts val="4077"/>
              </a:lnSpc>
              <a:buFont typeface="Arial"/>
              <a:buChar char="•"/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Collecting real refund amounts (not just Yes/No) would enable accurate financial loss reporting and better ROI analysis for operational improvements.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2734178"/>
            <a:ext cx="16230600" cy="63804"/>
            <a:chOff x="0" y="0"/>
            <a:chExt cx="4052983" cy="15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32298" y="1029431"/>
            <a:ext cx="12258449" cy="111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Future Improvements</a:t>
            </a:r>
          </a:p>
        </p:txBody>
      </p:sp>
    </p:spTree>
  </p:cSld>
  <p:clrMapOvr>
    <a:masterClrMapping/>
  </p:clrMapOvr>
  <p:transition spd="slow">
    <p:push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26696" y="2813874"/>
            <a:ext cx="6521732" cy="2966210"/>
            <a:chOff x="0" y="0"/>
            <a:chExt cx="1717658" cy="7812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7658" cy="781224"/>
            </a:xfrm>
            <a:custGeom>
              <a:avLst/>
              <a:gdLst/>
              <a:ahLst/>
              <a:cxnLst/>
              <a:rect r="r" b="b" t="t" l="l"/>
              <a:pathLst>
                <a:path h="781224" w="1717658">
                  <a:moveTo>
                    <a:pt x="60542" y="0"/>
                  </a:moveTo>
                  <a:lnTo>
                    <a:pt x="1657116" y="0"/>
                  </a:lnTo>
                  <a:cubicBezTo>
                    <a:pt x="1673173" y="0"/>
                    <a:pt x="1688572" y="6379"/>
                    <a:pt x="1699926" y="17732"/>
                  </a:cubicBezTo>
                  <a:cubicBezTo>
                    <a:pt x="1711279" y="29086"/>
                    <a:pt x="1717658" y="44485"/>
                    <a:pt x="1717658" y="60542"/>
                  </a:cubicBezTo>
                  <a:lnTo>
                    <a:pt x="1717658" y="720682"/>
                  </a:lnTo>
                  <a:cubicBezTo>
                    <a:pt x="1717658" y="754119"/>
                    <a:pt x="1690552" y="781224"/>
                    <a:pt x="1657116" y="781224"/>
                  </a:cubicBezTo>
                  <a:lnTo>
                    <a:pt x="60542" y="781224"/>
                  </a:lnTo>
                  <a:cubicBezTo>
                    <a:pt x="27106" y="781224"/>
                    <a:pt x="0" y="754119"/>
                    <a:pt x="0" y="720682"/>
                  </a:cubicBezTo>
                  <a:lnTo>
                    <a:pt x="0" y="60542"/>
                  </a:lnTo>
                  <a:cubicBezTo>
                    <a:pt x="0" y="27106"/>
                    <a:pt x="27106" y="0"/>
                    <a:pt x="60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717658" cy="847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95014" y="3090099"/>
            <a:ext cx="9379984" cy="464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3500" spc="-19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oal: Predict whether a journey will be On Time, Delayed, or Cancelled. 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31,653 journey records were used for model training and evaluation.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Key features included Price, Route, Journey Day, and Departure Hour.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Three classification models were tested and compared.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026696" y="6350401"/>
            <a:ext cx="6521732" cy="814064"/>
            <a:chOff x="0" y="0"/>
            <a:chExt cx="1935467" cy="2415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5467" cy="241591"/>
            </a:xfrm>
            <a:custGeom>
              <a:avLst/>
              <a:gdLst/>
              <a:ahLst/>
              <a:cxnLst/>
              <a:rect r="r" b="b" t="t" l="l"/>
              <a:pathLst>
                <a:path h="241591" w="1935467">
                  <a:moveTo>
                    <a:pt x="60542" y="0"/>
                  </a:moveTo>
                  <a:lnTo>
                    <a:pt x="1874925" y="0"/>
                  </a:lnTo>
                  <a:cubicBezTo>
                    <a:pt x="1890982" y="0"/>
                    <a:pt x="1906381" y="6379"/>
                    <a:pt x="1917735" y="17732"/>
                  </a:cubicBezTo>
                  <a:cubicBezTo>
                    <a:pt x="1929089" y="29086"/>
                    <a:pt x="1935467" y="44485"/>
                    <a:pt x="1935467" y="60542"/>
                  </a:cubicBezTo>
                  <a:lnTo>
                    <a:pt x="1935467" y="181050"/>
                  </a:lnTo>
                  <a:cubicBezTo>
                    <a:pt x="1935467" y="214486"/>
                    <a:pt x="1908362" y="241591"/>
                    <a:pt x="1874925" y="241591"/>
                  </a:cubicBezTo>
                  <a:lnTo>
                    <a:pt x="60542" y="241591"/>
                  </a:lnTo>
                  <a:cubicBezTo>
                    <a:pt x="27106" y="241591"/>
                    <a:pt x="0" y="214486"/>
                    <a:pt x="0" y="181050"/>
                  </a:cubicBezTo>
                  <a:lnTo>
                    <a:pt x="0" y="60542"/>
                  </a:lnTo>
                  <a:cubicBezTo>
                    <a:pt x="0" y="27106"/>
                    <a:pt x="27106" y="0"/>
                    <a:pt x="60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935467" cy="298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  <a:r>
                <a:rPr lang="en-US" b="true" sz="2598" spc="-23">
                  <a:solidFill>
                    <a:srgbClr val="47C5F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31,653 </a:t>
              </a:r>
              <a:r>
                <a:rPr lang="en-US" b="true" sz="2598" spc="-23">
                  <a:solidFill>
                    <a:srgbClr val="47C5F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Journey Records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26696" y="7734782"/>
            <a:ext cx="6521732" cy="814064"/>
            <a:chOff x="0" y="0"/>
            <a:chExt cx="1935467" cy="2415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5467" cy="241591"/>
            </a:xfrm>
            <a:custGeom>
              <a:avLst/>
              <a:gdLst/>
              <a:ahLst/>
              <a:cxnLst/>
              <a:rect r="r" b="b" t="t" l="l"/>
              <a:pathLst>
                <a:path h="241591" w="1935467">
                  <a:moveTo>
                    <a:pt x="60542" y="0"/>
                  </a:moveTo>
                  <a:lnTo>
                    <a:pt x="1874925" y="0"/>
                  </a:lnTo>
                  <a:cubicBezTo>
                    <a:pt x="1890982" y="0"/>
                    <a:pt x="1906381" y="6379"/>
                    <a:pt x="1917735" y="17732"/>
                  </a:cubicBezTo>
                  <a:cubicBezTo>
                    <a:pt x="1929089" y="29086"/>
                    <a:pt x="1935467" y="44485"/>
                    <a:pt x="1935467" y="60542"/>
                  </a:cubicBezTo>
                  <a:lnTo>
                    <a:pt x="1935467" y="181050"/>
                  </a:lnTo>
                  <a:cubicBezTo>
                    <a:pt x="1935467" y="214486"/>
                    <a:pt x="1908362" y="241591"/>
                    <a:pt x="1874925" y="241591"/>
                  </a:cubicBezTo>
                  <a:lnTo>
                    <a:pt x="60542" y="241591"/>
                  </a:lnTo>
                  <a:cubicBezTo>
                    <a:pt x="27106" y="241591"/>
                    <a:pt x="0" y="214486"/>
                    <a:pt x="0" y="181050"/>
                  </a:cubicBezTo>
                  <a:lnTo>
                    <a:pt x="0" y="60542"/>
                  </a:lnTo>
                  <a:cubicBezTo>
                    <a:pt x="0" y="27106"/>
                    <a:pt x="27106" y="0"/>
                    <a:pt x="60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935467" cy="298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  <a:r>
                <a:rPr lang="en-US" b="true" sz="2598" spc="-23">
                  <a:solidFill>
                    <a:srgbClr val="47C5F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 Models </a:t>
              </a:r>
              <a:r>
                <a:rPr lang="en-US" b="true" sz="2598" spc="-23">
                  <a:solidFill>
                    <a:srgbClr val="47C5F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Compared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562334" y="3275454"/>
            <a:ext cx="5450455" cy="205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Journey Data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↓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Classification Models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↓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On Time | Delayed | Cancelled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2298" y="1029431"/>
            <a:ext cx="112902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Predictive Modeling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978370" y="2187110"/>
            <a:ext cx="3740322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Jo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urney Status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Prediction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03728" y="3951556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734178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11283" y="4768818"/>
            <a:ext cx="7332717" cy="104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88.44% Accuracy</a:t>
            </a:r>
          </a:p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Baseline model used for initial comparison.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0494" y="4751618"/>
            <a:ext cx="7970287" cy="104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89.92% Accuracy</a:t>
            </a:r>
          </a:p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Improved detection of Delayed and Cancelled journeys.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6042" y="7288099"/>
            <a:ext cx="7088577" cy="157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91.30% Accuracy</a:t>
            </a:r>
          </a:p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Highest overall accuracy, but weaker on minority classes.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77311" y="7288099"/>
            <a:ext cx="7604974" cy="157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Balanced Random Forest</a:t>
            </a:r>
          </a:p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Selected for better minority-class detection, especially Cancelled journeys.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86042" y="3693464"/>
            <a:ext cx="322434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-147" b="true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Decision Tree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77311" y="3693464"/>
            <a:ext cx="616014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-147" b="true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Balanced Random Forest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1283" y="6164467"/>
            <a:ext cx="354428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-147" b="true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Random Forest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54129" y="6000955"/>
            <a:ext cx="7581791" cy="114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-147" b="true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Final S</a:t>
            </a:r>
            <a:r>
              <a:rPr lang="en-US" b="true" sz="4200" spc="-147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election</a:t>
            </a:r>
          </a:p>
          <a:p>
            <a:pPr algn="l" marL="496583" indent="-248292" lvl="1">
              <a:lnSpc>
                <a:spcPts val="3220"/>
              </a:lnSpc>
              <a:buFont typeface="Arial"/>
              <a:buChar char="•"/>
            </a:pPr>
            <a:r>
              <a:rPr lang="en-US" b="true" sz="2300" spc="-8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Cancelled Recall: 20% → 40%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04145" y="3417106"/>
            <a:ext cx="269291" cy="5907869"/>
            <a:chOff x="0" y="0"/>
            <a:chExt cx="70924" cy="15559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924" cy="1555982"/>
            </a:xfrm>
            <a:custGeom>
              <a:avLst/>
              <a:gdLst/>
              <a:ahLst/>
              <a:cxnLst/>
              <a:rect r="r" b="b" t="t" l="l"/>
              <a:pathLst>
                <a:path h="1555982" w="70924">
                  <a:moveTo>
                    <a:pt x="35462" y="0"/>
                  </a:moveTo>
                  <a:lnTo>
                    <a:pt x="35462" y="0"/>
                  </a:lnTo>
                  <a:cubicBezTo>
                    <a:pt x="55047" y="0"/>
                    <a:pt x="70924" y="15877"/>
                    <a:pt x="70924" y="35462"/>
                  </a:cubicBezTo>
                  <a:lnTo>
                    <a:pt x="70924" y="1520520"/>
                  </a:lnTo>
                  <a:cubicBezTo>
                    <a:pt x="70924" y="1529925"/>
                    <a:pt x="67188" y="1538945"/>
                    <a:pt x="60538" y="1545595"/>
                  </a:cubicBezTo>
                  <a:cubicBezTo>
                    <a:pt x="53887" y="1552246"/>
                    <a:pt x="44867" y="1555982"/>
                    <a:pt x="35462" y="1555982"/>
                  </a:cubicBezTo>
                  <a:lnTo>
                    <a:pt x="35462" y="1555982"/>
                  </a:lnTo>
                  <a:cubicBezTo>
                    <a:pt x="26057" y="1555982"/>
                    <a:pt x="17037" y="1552246"/>
                    <a:pt x="10387" y="1545595"/>
                  </a:cubicBezTo>
                  <a:cubicBezTo>
                    <a:pt x="3736" y="1538945"/>
                    <a:pt x="0" y="1529925"/>
                    <a:pt x="0" y="1520520"/>
                  </a:cubicBezTo>
                  <a:lnTo>
                    <a:pt x="0" y="35462"/>
                  </a:lnTo>
                  <a:cubicBezTo>
                    <a:pt x="0" y="26057"/>
                    <a:pt x="3736" y="17037"/>
                    <a:pt x="10387" y="10387"/>
                  </a:cubicBezTo>
                  <a:cubicBezTo>
                    <a:pt x="17037" y="3736"/>
                    <a:pt x="26057" y="0"/>
                    <a:pt x="354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0924" cy="1622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59806" y="3417106"/>
            <a:ext cx="293870" cy="5907869"/>
            <a:chOff x="0" y="0"/>
            <a:chExt cx="77398" cy="15559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398" cy="1555982"/>
            </a:xfrm>
            <a:custGeom>
              <a:avLst/>
              <a:gdLst/>
              <a:ahLst/>
              <a:cxnLst/>
              <a:rect r="r" b="b" t="t" l="l"/>
              <a:pathLst>
                <a:path h="1555982" w="77398">
                  <a:moveTo>
                    <a:pt x="38699" y="0"/>
                  </a:moveTo>
                  <a:lnTo>
                    <a:pt x="38699" y="0"/>
                  </a:lnTo>
                  <a:cubicBezTo>
                    <a:pt x="48963" y="0"/>
                    <a:pt x="58806" y="4077"/>
                    <a:pt x="66063" y="11335"/>
                  </a:cubicBezTo>
                  <a:cubicBezTo>
                    <a:pt x="73321" y="18592"/>
                    <a:pt x="77398" y="28435"/>
                    <a:pt x="77398" y="38699"/>
                  </a:cubicBezTo>
                  <a:lnTo>
                    <a:pt x="77398" y="1517283"/>
                  </a:lnTo>
                  <a:cubicBezTo>
                    <a:pt x="77398" y="1538656"/>
                    <a:pt x="60072" y="1555982"/>
                    <a:pt x="38699" y="1555982"/>
                  </a:cubicBezTo>
                  <a:lnTo>
                    <a:pt x="38699" y="1555982"/>
                  </a:lnTo>
                  <a:cubicBezTo>
                    <a:pt x="17326" y="1555982"/>
                    <a:pt x="0" y="1538656"/>
                    <a:pt x="0" y="1517283"/>
                  </a:cubicBezTo>
                  <a:lnTo>
                    <a:pt x="0" y="38699"/>
                  </a:lnTo>
                  <a:cubicBezTo>
                    <a:pt x="0" y="17326"/>
                    <a:pt x="17326" y="0"/>
                    <a:pt x="386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77398" cy="1622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66149" y="1004999"/>
            <a:ext cx="17155702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Model Comparison &amp; Selection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9200" y="5477292"/>
            <a:ext cx="4672109" cy="815495"/>
          </a:xfrm>
          <a:custGeom>
            <a:avLst/>
            <a:gdLst/>
            <a:ahLst/>
            <a:cxnLst/>
            <a:rect r="r" b="b" t="t" l="l"/>
            <a:pathLst>
              <a:path h="815495" w="4672109">
                <a:moveTo>
                  <a:pt x="0" y="0"/>
                </a:moveTo>
                <a:lnTo>
                  <a:pt x="4672109" y="0"/>
                </a:lnTo>
                <a:lnTo>
                  <a:pt x="4672109" y="815495"/>
                </a:lnTo>
                <a:lnTo>
                  <a:pt x="0" y="815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79845" y="5980289"/>
            <a:ext cx="5438495" cy="3781008"/>
            <a:chOff x="0" y="0"/>
            <a:chExt cx="1237677" cy="8604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7677" cy="860471"/>
            </a:xfrm>
            <a:custGeom>
              <a:avLst/>
              <a:gdLst/>
              <a:ahLst/>
              <a:cxnLst/>
              <a:rect r="r" b="b" t="t" l="l"/>
              <a:pathLst>
                <a:path h="860471" w="1237677">
                  <a:moveTo>
                    <a:pt x="49824" y="0"/>
                  </a:moveTo>
                  <a:lnTo>
                    <a:pt x="1187853" y="0"/>
                  </a:lnTo>
                  <a:cubicBezTo>
                    <a:pt x="1215370" y="0"/>
                    <a:pt x="1237677" y="22307"/>
                    <a:pt x="1237677" y="49824"/>
                  </a:cubicBezTo>
                  <a:lnTo>
                    <a:pt x="1237677" y="810647"/>
                  </a:lnTo>
                  <a:cubicBezTo>
                    <a:pt x="1237677" y="838164"/>
                    <a:pt x="1215370" y="860471"/>
                    <a:pt x="1187853" y="860471"/>
                  </a:cubicBezTo>
                  <a:lnTo>
                    <a:pt x="49824" y="860471"/>
                  </a:lnTo>
                  <a:cubicBezTo>
                    <a:pt x="22307" y="860471"/>
                    <a:pt x="0" y="838164"/>
                    <a:pt x="0" y="810647"/>
                  </a:cubicBezTo>
                  <a:lnTo>
                    <a:pt x="0" y="49824"/>
                  </a:lnTo>
                  <a:cubicBezTo>
                    <a:pt x="0" y="22307"/>
                    <a:pt x="22307" y="0"/>
                    <a:pt x="498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25000">
                    <a:srgbClr val="7D7D7D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75000">
                    <a:srgbClr val="7C7C7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37677" cy="889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87819" y="5980289"/>
            <a:ext cx="5470648" cy="3781008"/>
            <a:chOff x="0" y="0"/>
            <a:chExt cx="1244994" cy="860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4994" cy="860471"/>
            </a:xfrm>
            <a:custGeom>
              <a:avLst/>
              <a:gdLst/>
              <a:ahLst/>
              <a:cxnLst/>
              <a:rect r="r" b="b" t="t" l="l"/>
              <a:pathLst>
                <a:path h="860471" w="1244994">
                  <a:moveTo>
                    <a:pt x="49531" y="0"/>
                  </a:moveTo>
                  <a:lnTo>
                    <a:pt x="1195463" y="0"/>
                  </a:lnTo>
                  <a:cubicBezTo>
                    <a:pt x="1208599" y="0"/>
                    <a:pt x="1221198" y="5218"/>
                    <a:pt x="1230487" y="14507"/>
                  </a:cubicBezTo>
                  <a:cubicBezTo>
                    <a:pt x="1239776" y="23796"/>
                    <a:pt x="1244994" y="36395"/>
                    <a:pt x="1244994" y="49531"/>
                  </a:cubicBezTo>
                  <a:lnTo>
                    <a:pt x="1244994" y="810940"/>
                  </a:lnTo>
                  <a:cubicBezTo>
                    <a:pt x="1244994" y="838295"/>
                    <a:pt x="1222818" y="860471"/>
                    <a:pt x="1195463" y="860471"/>
                  </a:cubicBezTo>
                  <a:lnTo>
                    <a:pt x="49531" y="860471"/>
                  </a:lnTo>
                  <a:cubicBezTo>
                    <a:pt x="36395" y="860471"/>
                    <a:pt x="23796" y="855252"/>
                    <a:pt x="14507" y="845963"/>
                  </a:cubicBezTo>
                  <a:cubicBezTo>
                    <a:pt x="5218" y="836675"/>
                    <a:pt x="0" y="824076"/>
                    <a:pt x="0" y="810940"/>
                  </a:cubicBezTo>
                  <a:lnTo>
                    <a:pt x="0" y="49531"/>
                  </a:lnTo>
                  <a:cubicBezTo>
                    <a:pt x="0" y="36395"/>
                    <a:pt x="5218" y="23796"/>
                    <a:pt x="14507" y="14507"/>
                  </a:cubicBezTo>
                  <a:cubicBezTo>
                    <a:pt x="23796" y="5218"/>
                    <a:pt x="36395" y="0"/>
                    <a:pt x="49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25000">
                    <a:srgbClr val="7D7D7D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75000">
                    <a:srgbClr val="7C7C7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244994" cy="850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2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27946" y="5980289"/>
            <a:ext cx="5607963" cy="3781008"/>
            <a:chOff x="0" y="0"/>
            <a:chExt cx="1276244" cy="8604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6244" cy="860471"/>
            </a:xfrm>
            <a:custGeom>
              <a:avLst/>
              <a:gdLst/>
              <a:ahLst/>
              <a:cxnLst/>
              <a:rect r="r" b="b" t="t" l="l"/>
              <a:pathLst>
                <a:path h="860471" w="1276244">
                  <a:moveTo>
                    <a:pt x="48318" y="0"/>
                  </a:moveTo>
                  <a:lnTo>
                    <a:pt x="1227925" y="0"/>
                  </a:lnTo>
                  <a:cubicBezTo>
                    <a:pt x="1254611" y="0"/>
                    <a:pt x="1276244" y="21633"/>
                    <a:pt x="1276244" y="48318"/>
                  </a:cubicBezTo>
                  <a:lnTo>
                    <a:pt x="1276244" y="812153"/>
                  </a:lnTo>
                  <a:cubicBezTo>
                    <a:pt x="1276244" y="824967"/>
                    <a:pt x="1271153" y="837257"/>
                    <a:pt x="1262092" y="846319"/>
                  </a:cubicBezTo>
                  <a:cubicBezTo>
                    <a:pt x="1253030" y="855380"/>
                    <a:pt x="1240740" y="860471"/>
                    <a:pt x="1227925" y="860471"/>
                  </a:cubicBezTo>
                  <a:lnTo>
                    <a:pt x="48318" y="860471"/>
                  </a:lnTo>
                  <a:cubicBezTo>
                    <a:pt x="35503" y="860471"/>
                    <a:pt x="23214" y="855380"/>
                    <a:pt x="14152" y="846319"/>
                  </a:cubicBezTo>
                  <a:cubicBezTo>
                    <a:pt x="5091" y="837257"/>
                    <a:pt x="0" y="824967"/>
                    <a:pt x="0" y="812153"/>
                  </a:cubicBezTo>
                  <a:lnTo>
                    <a:pt x="0" y="48318"/>
                  </a:lnTo>
                  <a:cubicBezTo>
                    <a:pt x="0" y="35503"/>
                    <a:pt x="5091" y="23214"/>
                    <a:pt x="14152" y="14152"/>
                  </a:cubicBezTo>
                  <a:cubicBezTo>
                    <a:pt x="23214" y="5091"/>
                    <a:pt x="35503" y="0"/>
                    <a:pt x="483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25000">
                    <a:srgbClr val="7D7D7D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75000">
                    <a:srgbClr val="7C7C7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276244" cy="850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47695" y="7041261"/>
            <a:ext cx="5151177" cy="2253056"/>
          </a:xfrm>
          <a:custGeom>
            <a:avLst/>
            <a:gdLst/>
            <a:ahLst/>
            <a:cxnLst/>
            <a:rect r="r" b="b" t="t" l="l"/>
            <a:pathLst>
              <a:path h="2253056" w="5151177">
                <a:moveTo>
                  <a:pt x="0" y="0"/>
                </a:moveTo>
                <a:lnTo>
                  <a:pt x="5151177" y="0"/>
                </a:lnTo>
                <a:lnTo>
                  <a:pt x="5151177" y="2253055"/>
                </a:lnTo>
                <a:lnTo>
                  <a:pt x="0" y="22530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87174" y="3210338"/>
            <a:ext cx="7924800" cy="2266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9500" spc="-313" b="true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FinalModel 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23143" y="3062274"/>
            <a:ext cx="8851566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 spc="-108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The final Balanced Random Forest achieved strong overall performance while improving the detection of disrupted journeys.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7729" y="6371986"/>
            <a:ext cx="3691110" cy="42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b="true" sz="2799">
                <a:solidFill>
                  <a:srgbClr val="47C5FB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Confusion Matrix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18958" y="6371986"/>
            <a:ext cx="4014490" cy="42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Prediction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01896" y="6371986"/>
            <a:ext cx="4260062" cy="42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Top Prediction Drivers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50294" y="7197471"/>
            <a:ext cx="4951817" cy="165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 89.92%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 Model Accuracy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 5,693 Correct   638 Wrong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7092" y="7041261"/>
            <a:ext cx="5116632" cy="206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247"/>
              </a:lnSpc>
              <a:buFont typeface="Arial"/>
              <a:buChar char="•"/>
            </a:pPr>
            <a:r>
              <a:rPr lang="en-US" sz="2799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Price </a:t>
            </a: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 12.98%</a:t>
            </a:r>
          </a:p>
          <a:p>
            <a:pPr algn="l" marL="604519" indent="-302260" lvl="1">
              <a:lnSpc>
                <a:spcPts val="3247"/>
              </a:lnSpc>
              <a:buFont typeface="Arial"/>
              <a:buChar char="•"/>
            </a:pPr>
            <a:r>
              <a:rPr lang="en-US" sz="2799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Journey Day</a:t>
            </a: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:12.81%</a:t>
            </a:r>
          </a:p>
          <a:p>
            <a:pPr algn="l" marL="604519" indent="-302260" lvl="1">
              <a:lnSpc>
                <a:spcPts val="3247"/>
              </a:lnSpc>
              <a:buFont typeface="Arial"/>
              <a:buChar char="•"/>
            </a:pPr>
            <a:r>
              <a:rPr lang="en-US" sz="2799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Route</a:t>
            </a: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:12.66%</a:t>
            </a:r>
          </a:p>
          <a:p>
            <a:pPr algn="l" marL="604519" indent="-302260" lvl="1">
              <a:lnSpc>
                <a:spcPts val="3247"/>
              </a:lnSpc>
              <a:buFont typeface="Arial"/>
              <a:buChar char="•"/>
            </a:pPr>
            <a:r>
              <a:rPr lang="en-US" sz="2799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Departure Hour </a:t>
            </a: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:12.45%</a:t>
            </a:r>
          </a:p>
          <a:p>
            <a:pPr algn="l" marL="604519" indent="-302260" lvl="1">
              <a:lnSpc>
                <a:spcPts val="3247"/>
              </a:lnSpc>
              <a:buFont typeface="Arial"/>
              <a:buChar char="•"/>
            </a:pPr>
            <a:r>
              <a:rPr lang="en-US" sz="2799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Journey Month</a:t>
            </a: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:10.72%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2298" y="1029431"/>
            <a:ext cx="12491481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Final Model Evaluation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8700" y="2734178"/>
            <a:ext cx="16230600" cy="63804"/>
            <a:chOff x="0" y="0"/>
            <a:chExt cx="4052983" cy="159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83164" y="3198031"/>
            <a:ext cx="15921672" cy="6202294"/>
            <a:chOff x="0" y="0"/>
            <a:chExt cx="4193362" cy="16335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3362" cy="1633526"/>
            </a:xfrm>
            <a:custGeom>
              <a:avLst/>
              <a:gdLst/>
              <a:ahLst/>
              <a:cxnLst/>
              <a:rect r="r" b="b" t="t" l="l"/>
              <a:pathLst>
                <a:path h="1633526" w="4193362">
                  <a:moveTo>
                    <a:pt x="24799" y="0"/>
                  </a:moveTo>
                  <a:lnTo>
                    <a:pt x="4168563" y="0"/>
                  </a:lnTo>
                  <a:cubicBezTo>
                    <a:pt x="4182259" y="0"/>
                    <a:pt x="4193362" y="11103"/>
                    <a:pt x="4193362" y="24799"/>
                  </a:cubicBezTo>
                  <a:lnTo>
                    <a:pt x="4193362" y="1608727"/>
                  </a:lnTo>
                  <a:cubicBezTo>
                    <a:pt x="4193362" y="1622423"/>
                    <a:pt x="4182259" y="1633526"/>
                    <a:pt x="4168563" y="1633526"/>
                  </a:cubicBezTo>
                  <a:lnTo>
                    <a:pt x="24799" y="1633526"/>
                  </a:lnTo>
                  <a:cubicBezTo>
                    <a:pt x="18222" y="1633526"/>
                    <a:pt x="11914" y="1630913"/>
                    <a:pt x="7263" y="1626263"/>
                  </a:cubicBezTo>
                  <a:cubicBezTo>
                    <a:pt x="2613" y="1621612"/>
                    <a:pt x="0" y="1615304"/>
                    <a:pt x="0" y="1608727"/>
                  </a:cubicBezTo>
                  <a:lnTo>
                    <a:pt x="0" y="24799"/>
                  </a:lnTo>
                  <a:cubicBezTo>
                    <a:pt x="0" y="11103"/>
                    <a:pt x="11103" y="0"/>
                    <a:pt x="247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193362" cy="1700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21703" y="4764722"/>
            <a:ext cx="13939204" cy="64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2" indent="-377821" lvl="1">
              <a:lnSpc>
                <a:spcPts val="5284"/>
              </a:lnSpc>
              <a:buFont typeface="Arial"/>
              <a:buChar char="•"/>
            </a:pPr>
            <a:r>
              <a:rPr lang="en-US" sz="3499" spc="-125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Technical Issues generate the highest refund rate at 54.9%.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1703" y="7830086"/>
            <a:ext cx="12295154" cy="64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2" indent="-377821" lvl="1">
              <a:lnSpc>
                <a:spcPts val="5284"/>
              </a:lnSpc>
              <a:buFont typeface="Arial"/>
              <a:buChar char="•"/>
            </a:pPr>
            <a:r>
              <a:rPr lang="en-US" sz="3499" spc="-12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Advance Tickets generate 41.7% of total revenue.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1703" y="3511944"/>
            <a:ext cx="13719814" cy="64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2" indent="-377821" lvl="1">
              <a:lnSpc>
                <a:spcPts val="5284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77.3% of revenue comes from Full-Fare passengers.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21703" y="6015255"/>
            <a:ext cx="14682757" cy="131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2" indent="-377821" lvl="1">
              <a:lnSpc>
                <a:spcPts val="5284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Liverpool Lime Street has the highest normalized disruption rate at 19.7%.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2734178"/>
            <a:ext cx="16230600" cy="63804"/>
            <a:chOff x="0" y="0"/>
            <a:chExt cx="4052983" cy="159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32298" y="1029431"/>
            <a:ext cx="6915340" cy="111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Insights</a:t>
            </a:r>
          </a:p>
        </p:txBody>
      </p:sp>
    </p:spTree>
  </p:cSld>
  <p:clrMapOvr>
    <a:masterClrMapping/>
  </p:clrMapOvr>
  <p:transition spd="slow">
    <p:push dir="l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8008" y="6104743"/>
            <a:ext cx="11004793" cy="3517555"/>
          </a:xfrm>
          <a:custGeom>
            <a:avLst/>
            <a:gdLst/>
            <a:ahLst/>
            <a:cxnLst/>
            <a:rect r="r" b="b" t="t" l="l"/>
            <a:pathLst>
              <a:path h="3517555" w="11004793">
                <a:moveTo>
                  <a:pt x="0" y="0"/>
                </a:moveTo>
                <a:lnTo>
                  <a:pt x="11004793" y="0"/>
                </a:lnTo>
                <a:lnTo>
                  <a:pt x="11004793" y="3517555"/>
                </a:lnTo>
                <a:lnTo>
                  <a:pt x="0" y="3517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17955" y="6104743"/>
            <a:ext cx="5423619" cy="3517555"/>
          </a:xfrm>
          <a:custGeom>
            <a:avLst/>
            <a:gdLst/>
            <a:ahLst/>
            <a:cxnLst/>
            <a:rect r="r" b="b" t="t" l="l"/>
            <a:pathLst>
              <a:path h="3517555" w="5423619">
                <a:moveTo>
                  <a:pt x="0" y="0"/>
                </a:moveTo>
                <a:lnTo>
                  <a:pt x="5423619" y="0"/>
                </a:lnTo>
                <a:lnTo>
                  <a:pt x="5423619" y="3517555"/>
                </a:lnTo>
                <a:lnTo>
                  <a:pt x="0" y="3517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7141340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810871"/>
            <a:ext cx="910402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</a:t>
            </a: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 Daily Ride Count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68426"/>
            <a:ext cx="6511796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Objective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Predict daily ride demand for May 2024.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Support operational planning and resource allocation.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490166" y="3625576"/>
            <a:ext cx="9487338" cy="247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Insights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Daily ride demand is expected to remain stable through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out May.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No significant drop in passenger demand is forecast.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Resources should be allocated based on the expected daily demand.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08050" y="5752318"/>
            <a:ext cx="11644666" cy="3602929"/>
          </a:xfrm>
          <a:custGeom>
            <a:avLst/>
            <a:gdLst/>
            <a:ahLst/>
            <a:cxnLst/>
            <a:rect r="r" b="b" t="t" l="l"/>
            <a:pathLst>
              <a:path h="3602929" w="11644666">
                <a:moveTo>
                  <a:pt x="0" y="0"/>
                </a:moveTo>
                <a:lnTo>
                  <a:pt x="11644666" y="0"/>
                </a:lnTo>
                <a:lnTo>
                  <a:pt x="11644666" y="3602929"/>
                </a:lnTo>
                <a:lnTo>
                  <a:pt x="0" y="3602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81036" y="5922208"/>
            <a:ext cx="5296468" cy="3263149"/>
          </a:xfrm>
          <a:custGeom>
            <a:avLst/>
            <a:gdLst/>
            <a:ahLst/>
            <a:cxnLst/>
            <a:rect r="r" b="b" t="t" l="l"/>
            <a:pathLst>
              <a:path h="3263149" w="5296468">
                <a:moveTo>
                  <a:pt x="0" y="0"/>
                </a:moveTo>
                <a:lnTo>
                  <a:pt x="5296468" y="0"/>
                </a:lnTo>
                <a:lnTo>
                  <a:pt x="5296468" y="3263149"/>
                </a:lnTo>
                <a:lnTo>
                  <a:pt x="0" y="3263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7141340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810871"/>
            <a:ext cx="910402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</a:t>
            </a: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 Daily Revenue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80151"/>
            <a:ext cx="6089825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Objective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Predict daily revenue for May 2024.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Support financial planning.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90166" y="3625576"/>
            <a:ext cx="9487338" cy="212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Insights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Daily revenue is expected to remain relatively stable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Reve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nue fluctuations follow the expected rides demand.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Financial planning can rely on the forecasted revenue trend.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82669" y="5660116"/>
            <a:ext cx="6199062" cy="4094643"/>
          </a:xfrm>
          <a:custGeom>
            <a:avLst/>
            <a:gdLst/>
            <a:ahLst/>
            <a:cxnLst/>
            <a:rect r="r" b="b" t="t" l="l"/>
            <a:pathLst>
              <a:path h="4094643" w="6199062">
                <a:moveTo>
                  <a:pt x="0" y="0"/>
                </a:moveTo>
                <a:lnTo>
                  <a:pt x="6199061" y="0"/>
                </a:lnTo>
                <a:lnTo>
                  <a:pt x="6199061" y="4094643"/>
                </a:lnTo>
                <a:lnTo>
                  <a:pt x="0" y="4094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28368" y="6509839"/>
            <a:ext cx="6256465" cy="3472625"/>
          </a:xfrm>
          <a:custGeom>
            <a:avLst/>
            <a:gdLst/>
            <a:ahLst/>
            <a:cxnLst/>
            <a:rect r="r" b="b" t="t" l="l"/>
            <a:pathLst>
              <a:path h="3472625" w="6256465">
                <a:moveTo>
                  <a:pt x="0" y="0"/>
                </a:moveTo>
                <a:lnTo>
                  <a:pt x="6256465" y="0"/>
                </a:lnTo>
                <a:lnTo>
                  <a:pt x="6256465" y="3472625"/>
                </a:lnTo>
                <a:lnTo>
                  <a:pt x="0" y="3472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7141340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810871"/>
            <a:ext cx="12363906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</a:t>
            </a: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 Ticket Class &amp; Ticket Type Demand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68426"/>
            <a:ext cx="7948766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Objective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Forecast future demand for ticket classes and ticket types.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Help optimize ticket allocation and pricing.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24054" y="3625576"/>
            <a:ext cx="7853450" cy="247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Insights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andard Class is forecast to remain the most popular ticket class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Advance tickets continue to have the highest demand.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Anytime tickets are expected to remain the least requested option.</a:t>
            </a:r>
          </a:p>
        </p:txBody>
      </p:sp>
    </p:spTree>
  </p:cSld>
  <p:clrMapOvr>
    <a:masterClrMapping/>
  </p:clrMapOvr>
  <p:transition spd="slow">
    <p:push dir="l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18835" y="3258487"/>
            <a:ext cx="8317569" cy="2401629"/>
          </a:xfrm>
          <a:custGeom>
            <a:avLst/>
            <a:gdLst/>
            <a:ahLst/>
            <a:cxnLst/>
            <a:rect r="r" b="b" t="t" l="l"/>
            <a:pathLst>
              <a:path h="2401629" w="8317569">
                <a:moveTo>
                  <a:pt x="0" y="0"/>
                </a:moveTo>
                <a:lnTo>
                  <a:pt x="8317569" y="0"/>
                </a:lnTo>
                <a:lnTo>
                  <a:pt x="8317569" y="2401629"/>
                </a:lnTo>
                <a:lnTo>
                  <a:pt x="0" y="24016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43811" y="1124681"/>
            <a:ext cx="7141340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Forecasting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8370" y="2810871"/>
            <a:ext cx="6625438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</a:t>
            </a: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 Delay Reasons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3568426"/>
            <a:ext cx="7948766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Objective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redict the expected number of delays by reason for May 2024.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Help railway operators prepare for potential operational disruptions.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6079216"/>
            <a:ext cx="15280930" cy="318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Insights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No Delay is expec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ted to incre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ase from 6,773 in April to 7,092 in May, indicating improved operational performance.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Signal Failure is forecast to increase slightly from 262 to 276, remaining a key operational issue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Technical Issues are expected to rise from 161 to 190, requiring preventive maintenance.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Traffic Delays show the largest increase (82 → 121), suggesting additional traffic management may be needed.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Weather and Staff Shortage are expected to increase moderately and should continue to</a:t>
            </a:r>
          </a:p>
        </p:txBody>
      </p:sp>
    </p:spTree>
  </p:cSld>
  <p:clrMapOvr>
    <a:masterClrMapping/>
  </p:clrMapOvr>
  <p:transition spd="slow">
    <p:push dir="l"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508817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31977" y="1858371"/>
          <a:ext cx="8312023" cy="7219950"/>
        </p:xfrm>
        <a:graphic>
          <a:graphicData uri="http://schemas.openxmlformats.org/drawingml/2006/table">
            <a:tbl>
              <a:tblPr/>
              <a:tblGrid>
                <a:gridCol w="1985004"/>
                <a:gridCol w="6327019"/>
              </a:tblGrid>
              <a:tr h="12352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Forecast Area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Key Finding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1196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Daily Rides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The model predicts stable daily ride demand during May.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6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Daily revenue is expected to remain stable with slight fluctuations.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6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Ticket Class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Standard Class remains the highest-demand ticket class.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6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Ticket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Advance tickets continue to have the highest demand.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6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 Delay Reasons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Traffic and Technical Issues are expected to increase slightly.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28700" y="610887"/>
            <a:ext cx="5484123" cy="51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4500" spc="-360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Summary Table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6464" y="610887"/>
            <a:ext cx="8654043" cy="51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4500" spc="-360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Business 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3450" y="1772516"/>
            <a:ext cx="7762836" cy="798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Increase train capacity d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uring high-demand periods.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Prioritize maintenance to reduce Signal Failures and Technical Issues.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Allocate more Standard Class and Advance tickets to match forecasted demand.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Monitor Traffic and Staff Shortage delays to minimize service disruptions.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 forecasting results for resource allocation and financial planning.</a:t>
            </a:r>
          </a:p>
        </p:txBody>
      </p:sp>
    </p:spTree>
  </p:cSld>
  <p:clrMapOvr>
    <a:masterClrMapping/>
  </p:clrMapOvr>
  <p:transition spd="slow">
    <p:push dir="l"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10309" y="3940297"/>
            <a:ext cx="13067382" cy="219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321"/>
              </a:lnSpc>
              <a:spcBef>
                <a:spcPct val="0"/>
              </a:spcBef>
            </a:pPr>
            <a:r>
              <a:rPr lang="en-US" sz="19152" spc="-1532">
                <a:solidFill>
                  <a:srgbClr val="F9F9F9"/>
                </a:solidFill>
                <a:latin typeface="Gulfs Display"/>
                <a:ea typeface="Gulfs Display"/>
                <a:cs typeface="Gulfs Display"/>
                <a:sym typeface="Gulfs Display"/>
              </a:rPr>
              <a:t>T</a:t>
            </a:r>
            <a:r>
              <a:rPr lang="en-US" sz="19152" spc="-1532">
                <a:solidFill>
                  <a:srgbClr val="F9F9F9"/>
                </a:solidFill>
                <a:latin typeface="Gulfs Display"/>
                <a:ea typeface="Gulfs Display"/>
                <a:cs typeface="Gulfs Display"/>
                <a:sym typeface="Gulfs Display"/>
              </a:rPr>
              <a:t>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06732" y="5981041"/>
            <a:ext cx="11074536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is just numbers — until you ask the right questions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55151" y="763587"/>
            <a:ext cx="808298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4768" y="763587"/>
            <a:ext cx="808298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YAT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DAHOcCqfMgg</dc:identifier>
  <dcterms:modified xsi:type="dcterms:W3CDTF">2011-08-01T06:04:30Z</dcterms:modified>
  <cp:revision>1</cp:revision>
  <dc:title>Blue and White Modern Startup Pitch Deck Presentation</dc:title>
</cp:coreProperties>
</file>